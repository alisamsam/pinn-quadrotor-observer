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Controller v2</a:t>
            </a:r>
          </a:p>
          <a:p>
            <a:pPr algn="l"/>
            <a:r>
              <a:rPr sz="2600" b="0" i="0">
                <a:solidFill>
                  <a:srgbClr val="CADCFC"/>
                </a:solidFill>
                <a:latin typeface="Calibri"/>
              </a:rPr>
              <a:t>Improved robustness for spiral trajectory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FB6C9"/>
                </a:solidFill>
                <a:latin typeface="Calibri"/>
              </a:rPr>
              <a:t>New tuned gains + saturation limits   |   compared with Controller v1</a:t>
            </a:r>
          </a:p>
          <a:p>
            <a:pPr algn="l"/>
            <a:r>
              <a:rPr sz="1400" b="0" i="0">
                <a:solidFill>
                  <a:srgbClr val="7F93A8"/>
                </a:solidFill>
                <a:latin typeface="Calibri"/>
              </a:rPr>
              <a:t>PFE - Laboratoire DRIVE - Competence SIC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Cambria"/>
              </a:rPr>
              <a:t>New Parameters for Robustness (v1 → v2)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120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Gain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KP_XY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>
                    <a:solidFill>
                      <a:srgbClr val="DDEC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KD_XY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>
                    <a:solidFill>
                      <a:srgbClr val="DDEC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KP_Z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>
                    <a:solidFill>
                      <a:srgbClr val="DDEC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KD_Z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>
                    <a:solidFill>
                      <a:srgbClr val="DDEC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KP_ATT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DDEC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KD_ATT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DDEC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KP_yaw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DDEC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KD_yaw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DDECF2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126480" y="1371600"/>
            <a:ext cx="5577840" cy="2651760"/>
          </a:xfrm>
          <a:prstGeom prst="rect">
            <a:avLst/>
          </a:prstGeom>
          <a:solidFill>
            <a:srgbClr val="F0F5F8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/>
            <a:r>
              <a:rPr sz="1800" b="1" i="0">
                <a:solidFill>
                  <a:srgbClr val="065A82"/>
                </a:solidFill>
                <a:latin typeface="Cambria"/>
              </a:rPr>
              <a:t>Safety limits (saturation) — new in v2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Thrust  U1 ∈ [1, 35] N   (≤ 2× weight; no downward pull)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Tilt  |φ_d|, |θ_d|  ≤ 30°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Torques  U2, U3, U4 ∈ [-5, +5]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420624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mbria"/>
              </a:rPr>
              <a:t>Also new (method upgrades):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• acceleration feedforward   • thrust tilt-compensation   • exact tilt inversion</a:t>
            </a:r>
          </a:p>
          <a:p>
            <a:pPr algn="l"/>
            <a:r>
              <a:rPr sz="1500" b="0" i="1">
                <a:solidFill>
                  <a:srgbClr val="1C7293"/>
                </a:solidFill>
                <a:latin typeface="Calibri"/>
              </a:rPr>
              <a:t>Result: steady-state tracking ~5 m (v1) → ~0.18 m (v2), within limits.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Cambria"/>
              </a:rPr>
              <a:t>Where the Constants Are Used —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mbria"/>
              </a:rPr>
              <a:t>1 · Horizontal loop  (feedforward + PD)</a:t>
            </a:r>
          </a:p>
          <a:p>
            <a:pPr algn="l"/>
            <a:r>
              <a:rPr sz="1600" b="0" i="0">
                <a:solidFill>
                  <a:srgbClr val="222222"/>
                </a:solidFill>
                <a:latin typeface="Cambria"/>
              </a:rPr>
              <a:t>a_x = a_d,x + KP_XY·(x_d - x) + KD_XY·(v_d,x - v_x)     (a_y analogous)</a:t>
            </a:r>
          </a:p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uses  KP_XY = 4.5,  KD_XY =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9464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mbria"/>
              </a:rPr>
              <a:t>2 · Thrust with tilt-compensation   (saturated to [1, 35] N)</a:t>
            </a:r>
          </a:p>
          <a:p>
            <a:pPr algn="l"/>
            <a:r>
              <a:rPr sz="1600" b="0" i="0">
                <a:solidFill>
                  <a:srgbClr val="222222"/>
                </a:solidFill>
                <a:latin typeface="Cambria"/>
              </a:rPr>
              <a:t>U1 = m·( g + a_d,z + KP_Z·(z_d - z) + KD_Z·(v_d,z - v_z) ) / (cosφ · cosθ)</a:t>
            </a:r>
          </a:p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uses  KP_Z = 6.0,  KD_Z = 5.0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13048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mbria"/>
              </a:rPr>
              <a:t>3 · Desired tilt  (exact inversion, saturated to ≤ 30°)</a:t>
            </a:r>
          </a:p>
          <a:p>
            <a:pPr algn="l"/>
            <a:r>
              <a:rPr sz="1600" b="0" i="0">
                <a:solidFill>
                  <a:srgbClr val="222222"/>
                </a:solidFill>
                <a:latin typeface="Cambria"/>
              </a:rPr>
              <a:t>φ_d = arcsin( U_ex·sinψ - U_ey·cosψ ),    θ_d = arcsin( ... / cosφ_d )</a:t>
            </a:r>
          </a:p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uses  tilt limit 30°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56632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mbria"/>
              </a:rPr>
              <a:t>4 · Attitude torques   (saturated to [-5, +5])</a:t>
            </a:r>
          </a:p>
          <a:p>
            <a:pPr algn="l"/>
            <a:r>
              <a:rPr sz="1600" b="0" i="0">
                <a:solidFill>
                  <a:srgbClr val="222222"/>
                </a:solidFill>
                <a:latin typeface="Cambria"/>
              </a:rPr>
              <a:t>U2 = (I_x / l)·( KP_ATT·(φ_d - φ) - KD_ATT·p - coupling )    (U3, U4 analogous)</a:t>
            </a:r>
          </a:p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uses  KP_ATT = 25,  KD_ATT = 8,  KP_yaw = 2,  KD_yaw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